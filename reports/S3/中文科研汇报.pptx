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104c6134c24af0" /><Relationship Type="http://schemas.openxmlformats.org/officeDocument/2006/relationships/extended-properties" Target="/docProps/app.xml" Id="R078155c70467400a" /><Relationship Type="http://schemas.openxmlformats.org/officeDocument/2006/relationships/officeDocument" Target="/ppt/presentation.xml" Id="R553e9cf9b59043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46a60fde854fda"/>
  </p:sldMasterIdLst>
  <p:notesMasterIdLst>
    <p:notesMasterId xmlns:r="http://schemas.openxmlformats.org/officeDocument/2006/relationships" r:id="Rfe0be4bb737f4412"/>
  </p:notesMasterIdLst>
  <p:sldIdLst>
    <p:sldId xmlns:r="http://schemas.openxmlformats.org/officeDocument/2006/relationships" id="256" r:id="R792deb86d5d74f7c"/>
    <p:sldId xmlns:r="http://schemas.openxmlformats.org/officeDocument/2006/relationships" id="257" r:id="R56d6666cebc2488b"/>
    <p:sldId xmlns:r="http://schemas.openxmlformats.org/officeDocument/2006/relationships" id="258" r:id="Rff6ea51a5c9d4a4b"/>
    <p:sldId xmlns:r="http://schemas.openxmlformats.org/officeDocument/2006/relationships" id="259" r:id="Rf2179d93431947e4"/>
    <p:sldId xmlns:r="http://schemas.openxmlformats.org/officeDocument/2006/relationships" id="260" r:id="R949f42e9ce9e4d6a"/>
    <p:sldId xmlns:r="http://schemas.openxmlformats.org/officeDocument/2006/relationships" id="261" r:id="Rfc9c2ab3390a41cf"/>
    <p:sldId xmlns:r="http://schemas.openxmlformats.org/officeDocument/2006/relationships" id="262" r:id="Rc23051472ad04202"/>
    <p:sldId xmlns:r="http://schemas.openxmlformats.org/officeDocument/2006/relationships" id="263" r:id="R1cf497db12d44b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10d45a88754b95" /><Relationship Type="http://schemas.openxmlformats.org/officeDocument/2006/relationships/slideMaster" Target="/ppt/slideMasters/slideMaster1.xml" Id="R0646a60fde854fda" /><Relationship Type="http://schemas.openxmlformats.org/officeDocument/2006/relationships/notesMaster" Target="/ppt/notesMasters/notesMaster1.xml" Id="Rfe0be4bb737f4412" /><Relationship Type="http://schemas.openxmlformats.org/officeDocument/2006/relationships/presProps" Target="/ppt/presProps.xml" Id="Ra05898bafec44185" /><Relationship Type="http://schemas.openxmlformats.org/officeDocument/2006/relationships/tableStyles" Target="/ppt/tableStyles.xml" Id="R25224ae4eb46428f" /><Relationship Type="http://schemas.openxmlformats.org/officeDocument/2006/relationships/slide" Target="/ppt/slides/slide1.xml" Id="R792deb86d5d74f7c" /><Relationship Type="http://schemas.openxmlformats.org/officeDocument/2006/relationships/slide" Target="/ppt/slides/slide2.xml" Id="R56d6666cebc2488b" /><Relationship Type="http://schemas.openxmlformats.org/officeDocument/2006/relationships/slide" Target="/ppt/slides/slide3.xml" Id="Rff6ea51a5c9d4a4b" /><Relationship Type="http://schemas.openxmlformats.org/officeDocument/2006/relationships/slide" Target="/ppt/slides/slide4.xml" Id="Rf2179d93431947e4" /><Relationship Type="http://schemas.openxmlformats.org/officeDocument/2006/relationships/slide" Target="/ppt/slides/slide5.xml" Id="R949f42e9ce9e4d6a" /><Relationship Type="http://schemas.openxmlformats.org/officeDocument/2006/relationships/slide" Target="/ppt/slides/slide6.xml" Id="Rfc9c2ab3390a41cf" /><Relationship Type="http://schemas.openxmlformats.org/officeDocument/2006/relationships/slide" Target="/ppt/slides/slide7.xml" Id="Rc23051472ad04202" /><Relationship Type="http://schemas.openxmlformats.org/officeDocument/2006/relationships/slide" Target="/ppt/slides/slide8.xml" Id="R1cf497db12d44b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48195e8b7a4c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750eeefd1b4026" /><Relationship Type="http://schemas.openxmlformats.org/officeDocument/2006/relationships/notesMaster" Target="/ppt/notesMasters/notesMaster1.xml" Id="Rf89a3f82aa5a45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a8b40364df42b8" /><Relationship Type="http://schemas.openxmlformats.org/officeDocument/2006/relationships/notesMaster" Target="/ppt/notesMasters/notesMaster1.xml" Id="R98b08d6af2684d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6bb9956e8f4f01" /><Relationship Type="http://schemas.openxmlformats.org/officeDocument/2006/relationships/notesMaster" Target="/ppt/notesMasters/notesMaster1.xml" Id="Rfdbbe1728b3949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e1ea9fe1ca4a41" /><Relationship Type="http://schemas.openxmlformats.org/officeDocument/2006/relationships/notesMaster" Target="/ppt/notesMasters/notesMaster1.xml" Id="R58c0e496ffd346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b1204644884194" /><Relationship Type="http://schemas.openxmlformats.org/officeDocument/2006/relationships/notesMaster" Target="/ppt/notesMasters/notesMaster1.xml" Id="R3e1292c1105f43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077efe61bd419a" /><Relationship Type="http://schemas.openxmlformats.org/officeDocument/2006/relationships/notesMaster" Target="/ppt/notesMasters/notesMaster1.xml" Id="Rbb010714e9fd4e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84bc8342774e3b" /><Relationship Type="http://schemas.openxmlformats.org/officeDocument/2006/relationships/notesMaster" Target="/ppt/notesMasters/notesMaster1.xml" Id="R30507dd6532747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a1e6d9fcc44612" /><Relationship Type="http://schemas.openxmlformats.org/officeDocument/2006/relationships/notesMaster" Target="/ppt/notesMasters/notesMaster1.xml" Id="R67a13a684e6741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最初面向空间漫游视频中的环境记忆。本阶段只检验几何记忆部件，尚未得到生成视频质量结果。核心问题是首次存入的位置若有偏差，后续观察能否改变位置，以及位置更新能否稳定改变选帧和测量支持。first_write 是首写保留规则；frame_mean 是每个观测帧贡献一次的位置平均，是简单控制，不是创新声明。主测试结果是 stride 16、无人工扰动、同一环境两个测试时段中的 8 个实际查询。两档检索分辨率均没有最终换帧，支持覆盖变化为零。项目证据：docs/TECHNICAL_REPORT.md；docs/S3_RESULTS.md；results/S3_rgbd_memory/analysis/analysis_summary.json；results/S3_rgbd_memory/analysis/split_summary.csv。项目根目录：/Users/rocket/Desktop/HKUST IT/ip-/geometry-world-modeling。 VMem 官方：https://v-mem.github.io/；https://arxiv.org/abs/2506.18903v3。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左侧为实际输入 RGB，文件 data/tum/rgbd_dataset_freiburg1_xyz/rgb/1305031118.711421.png。数据来自 TUM RGB-D，使用 Kinect 深度测量和数据集 mocap 位姿；测量、位姿和标定都可能有误差，不能称为无噪几何真值。798 RGB 与 798 深度图中，792 唯一时间配对满足 20 ms 阈值，789 对具有允许的位姿支持。每个等时长块取 24 观察：20 历史帧构图，4 留出查询。块 0 开发，块 1、2 固定测试。留出深度不进入记忆或选帧，只用于评测。官方选帧逻辑固定到 VMem 39291e4f272f6b4f270691d930926ab5930f942e。只比较 first_write 和 frame_mean，不进行 CUT3R 推理或视频生成。TUM 图片署名：Jürgen Sturm et al., TUM RGB-D benchmark, CC BY 4.0；https://cvg.cit.tum.de/data/datasets/rgbd-dataset；格式：https://cvg.cit.tum.de/data/datasets/rgbd-dataset/file_formats。项目证据：docs/TECHNICAL_REPORT.md；docs/S3_RESULTS.md；results/S3_rgbd_memory/analysis/analysis_summary.json；results/S3_rgbd_memory/analysis/split_summary.csv。项目根目录：/Users/rocket/Desktop/HKUST IT/ip-/geometry-world-modeling。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S0 是局部合并函数的人工输入诊断：216 配置；S0b 另 216 对照；12 索引检查用于分离八叉树边界漏查。S1 是完整官方选帧路径的 192 配对人工配置：8 共享来源的 72 受扰动配置全部不换帧；小误差未显示跨分辨率稳定影响。S2 检查实际 TUM 数据接口，抽 24 帧 QA 通过，不证明传感器真值准确。S3 全配置 18 案例 = 3 时间块 × 2 采样间隔 × 3 首帧扰动，共 36 地图、72 配对查询条件、144 查询条件与检索宽度配对行，独立结果核验 4544 项通过。实际相机查询只有 12 个，主测试仅其中 8 个；所有数据只来自同一个环境。配置数和程序检查数均不是独立样本数。程序运行时间不可替代学生课时。来源 docs/S0_RESULTS.md、docs/S1_RESULTS.md、docs/S2_RESULTS.md、results/S3_rgbd_memory/verification.json。项目证据：docs/TECHNICAL_REPORT.md；docs/S3_RESULTS.md；results/S3_rgbd_memory/analysis/analysis_summary.json；results/S3_rgbd_memory/analysis/split_summary.csv。项目根目录：/Users/rocket/Desktop/HKUST IT/ip-/geometry-world-modeling。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本页全部数值直接读取 analysis_summary.json 的 test、stride 16、bias 0 汇总。平均查询中位数指每查询先取绝对深度差中位数，再对 8 查询等权平均；平均 MAE 也先逐查询计算再等权平均。共同像素为两地图都预测且目标测量有效、通过预定 0.05 m 边界排除的像素；未因残差大而剔除。共同像素平均覆盖只有有效目标的 3.908%，每查询 450–646 个。自身几何覆盖指各地图自身的有效投影覆盖，frame_mean 较低。固定支持覆盖由选中历史帧对同一目标掩码的 5 cm 深度一致性决定，与自身几何覆盖不是同一指标。两档 160×120、320×240 检索分辨率最终 4 帧集合均为 0/8 改变，候选集合 1/8 改变并不改变这一结论。不能说整体几何质量或生成视频提高。项目证据：docs/TECHNICAL_REPORT.md；docs/S3_RESULTS.md；results/S3_rgbd_memory/analysis/analysis_summary.json；results/S3_rgbd_memory/analysis/split_summary.csv。项目根目录：/Users/rocket/Desktop/HKUST IT/ip-/geometry-world-modeling。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表格保留全部六个固定测试条件，不选择有利结果。间隔为原始深度图采样步长，数值越大采样越稀疏。中位差和 MAE 先在每查询计算，再对查询等权平均；箭头表示 first_write 到 frame_mean。换帧列与支持变化列按检索宽度 160 / 320 排列。pp 是百分点，不是百分比相对改变量。stride 16 原始条件没有换帧；stride 24 原始条件支持仅增 0.02098 个百分点。20 mm 人工扰动时，stride 16 平均支持略升，而 stride 24 略降；stride 24、50 mm 时 MAE 从 225.750 增至 227.523 mm。所有 18 案例 frame_mean 的地图点数和自身几何覆盖均较小。本页六行复用同一组 8 个测试查询，不能说有 48 独立查询。完整自身覆盖、共同覆盖和逐查询数值见 CSV。项目证据：docs/TECHNICAL_REPORT.md；docs/S3_RESULTS.md；results/S3_rgbd_memory/analysis/analysis_summary.json；results/S3_rgbd_memory/analysis/split_summary.csv。项目根目录：/Users/rocket/Desktop/HKUST IT/ip-/geometry-world-modeling。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图表数据直接读取主测试设置。first_write 和 frame_mean 都是 90.837462741%；recent4 是最近四帧，92.809546380%；nearest_pose4 是最近位姿的四帧，93.820169327%。全历史 20 帧 96.847535164%，因为预算为 20 而非 4，它只是可支持范围上界，不是等预算方法，也不是最优四帧。nearest_pose4 没有 NMS，因此不是一个只改变单因素的消融。本页支持是与留出深度的 5 cm 测量一致性，不代表视觉、感知或生成质量。各图数值是 8 查询等权平均，并不因在多个设置中重复出现而增加独立样本。项目证据：docs/TECHNICAL_REPORT.md；docs/S3_RESULTS.md；results/S3_rgbd_memory/analysis/analysis_summary.json；results/S3_rgbd_memory/analysis/split_summary.csv。项目根目录：/Users/rocket/Desktop/HKUST IT/ip-/geometry-world-modeling。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看到中位数与 MAE 差异后，追加本页事后诊断，未改变冻结主评测。对全部 4235 共同像素计数，first_write 中绝对深度残差≥100 mm 为 1392，≥500 mm 为 881；frame_mean 为 1366、864。两组阈值是包含关系而非互斥分箱。像素汇总 p90 从 999.506 mm 到 1008.906 mm，略变差。像素汇总按各查询的像素数加权，不能和第 4 页逐查询等权汇总混用。稀疏投影落入同一网格并不保证来自同一物理表面；4 倍降采样取整最大对应原图 2 像素，而边界检查邻域 1 像素，这是待验证的候选解释，不是已证明原因。传感器、位姿、遮挡、地图合并也可能相关。本实验仅一个短时环境，绕过 CUT3R 和完整原始清理，未生成视频。来源 results/S3_rgbd_memory/posthoc_residuals/summary.json；docs/S3_RESULTS.md 的事后诊断节。项目证据：docs/TECHNICAL_REPORT.md；docs/S3_RESULTS.md；results/S3_rgbd_memory/analysis/analysis_summary.json；results/S3_rgbd_memory/analysis/split_summary.csv。项目根目录：/Users/rocket/Desktop/HKUST IT/ip-/geometry-world-modeling。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已交付的实际文件是英文技术报告 docs/TECHNICAL_REPORT.md、中文 S3 结果 docs/S3_RESULTS.md、冻结协议 docs/S2_S3_PROTOCOL.md、分析表与图和结果核验记录。资料可复现，但课程报告仍需学生和教师审核；程序运行时间不得被当作学生工时，也没有代替导师会议。下一步是继续独立官方 CUT3R 本机推理准备，先真实输入 CPU，再 MPS；不能写成已完成推理。随后接回原始清理与置信度过程，增加独立环境，再决定是否需要复杂几何门控，最后才评估生成视频空间一致性。frame_mean 是简单对照，目前没有创新性结论。项目总体目标未完成，缺失结果不能用预期数字填充。CUT3R 官方：https://cut3r.github.io/；https://github.com/CUT3R/CUT3R#download-checkpoints。项目证据：docs/TECHNICAL_REPORT.md；docs/S3_RESULTS.md；results/S3_rgbd_memory/analysis/analysis_summary.json；results/S3_rgbd_memory/analysis/split_summary.csv。项目根目录：/Users/rocket/Desktop/HKUST IT/ip-/geometry-world-modeling。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a21195c6574d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fa70ed1c844b49" /><Relationship Type="http://schemas.openxmlformats.org/officeDocument/2006/relationships/slideLayout" Target="/ppt/slideLayouts/slideLayout1.xml" Id="R27c8ad49d05d4c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c8ad49d05d4c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fcfa39222496f" /><Relationship Type="http://schemas.openxmlformats.org/officeDocument/2006/relationships/notesSlide" Target="/ppt/notesSlides/notesSlide1.xml" Id="R765d15288e144d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ecc1eca8f40bc" /><Relationship Type="http://schemas.openxmlformats.org/officeDocument/2006/relationships/image" Target="/ppt/media/image.png" Id="R753136bdacc840b1" /><Relationship Type="http://schemas.openxmlformats.org/officeDocument/2006/relationships/notesSlide" Target="/ppt/notesSlides/notesSlide2.xml" Id="Rd9ecf31ad62544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120dd868245d9" /><Relationship Type="http://schemas.openxmlformats.org/officeDocument/2006/relationships/notesSlide" Target="/ppt/notesSlides/notesSlide3.xml" Id="R1d2fc95b661543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58ad3d68549a8" /><Relationship Type="http://schemas.openxmlformats.org/officeDocument/2006/relationships/notesSlide" Target="/ppt/notesSlides/notesSlide4.xml" Id="R06bd6589f97f48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d945ea6e84411" /><Relationship Type="http://schemas.openxmlformats.org/officeDocument/2006/relationships/notesSlide" Target="/ppt/notesSlides/notesSlide5.xml" Id="R597c4522876b45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16de807c1b497c" /><Relationship Type="http://schemas.openxmlformats.org/officeDocument/2006/relationships/chart" Target="/ppt/slides/charts/chart1.xml" Id="Rb9ef38dacf5e412c" /><Relationship Type="http://schemas.openxmlformats.org/officeDocument/2006/relationships/notesSlide" Target="/ppt/notesSlides/notesSlide6.xml" Id="R2ceabed537e749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47970c2914ce9" /><Relationship Type="http://schemas.openxmlformats.org/officeDocument/2006/relationships/chart" Target="/ppt/slides/charts/chart2.xml" Id="R3a88c4f881024b62" /><Relationship Type="http://schemas.openxmlformats.org/officeDocument/2006/relationships/notesSlide" Target="/ppt/notesSlides/notesSlide7.xml" Id="Rbe7e2d04662945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7d3aa160342a3" /><Relationship Type="http://schemas.openxmlformats.org/officeDocument/2006/relationships/notesSlide" Target="/ppt/notesSlides/notesSlide8.xml" Id="Rffc51da5c57f496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固定测量支持覆盖</c:v>
          </c:tx>
          <c:spPr>
            <a:solidFill xmlns:a="http://schemas.openxmlformats.org/drawingml/2006/main">
              <a:srgbClr val="235B8F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80A8CC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AFB9C2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first_write</c:v>
                </c:pt>
                <c:pt idx="1">
                  <c:v>frame_mean</c:v>
                </c:pt>
                <c:pt idx="2">
                  <c:v>最近 4 帧</c:v>
                </c:pt>
                <c:pt idx="3">
                  <c:v>最近位姿 4 帧</c:v>
                </c:pt>
                <c:pt idx="4">
                  <c:v>全历史 20 帧</c:v>
                </c:pt>
              </c:strCache>
            </c:strRef>
          </c:cat>
          <c:val>
            <c:numRef>
              <c:f>'Chart Data'!$B$2:$B$6</c:f>
              <c:numCache>
                <c:formatCode>0.000%</c:formatCode>
                <c:ptCount val="5"/>
                <c:pt idx="0">
                  <c:v>0.90837462741</c:v>
                </c:pt>
                <c:pt idx="1">
                  <c:v>0.90837462741</c:v>
                </c:pt>
                <c:pt idx="2">
                  <c:v>0.928095463801</c:v>
                </c:pt>
                <c:pt idx="3">
                  <c:v>0.938201693273</c:v>
                </c:pt>
                <c:pt idx="4">
                  <c:v>0.968475351641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62C40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5E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2C40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C8D5E0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  <c:majorUnit val="0.25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first_write</c:v>
          </c:tx>
          <c:spPr>
            <a:solidFill xmlns:a="http://schemas.openxmlformats.org/drawingml/2006/main">
              <a:srgbClr val="235B8F"/>
            </a:solidFill>
          </c:spPr>
          <c:cat>
            <c:strRef>
              <c:f>'Chart Data'!$A$2:$A$3</c:f>
              <c:strCache>
                <c:ptCount val="2"/>
                <c:pt idx="0">
                  <c:v>绝对差 ≥100 mm</c:v>
                </c:pt>
                <c:pt idx="1">
                  <c:v>绝对差 ≥500 mm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1392</c:v>
                </c:pt>
                <c:pt idx="1">
                  <c:v>881</c:v>
                </c:pt>
              </c:numCache>
            </c:numRef>
          </c:val>
        </c:ser>
        <c:ser>
          <c:idx val="1"/>
          <c:order val="1"/>
          <c:tx>
            <c:v>frame_mean</c:v>
          </c:tx>
          <c:spPr>
            <a:solidFill xmlns:a="http://schemas.openxmlformats.org/drawingml/2006/main">
              <a:srgbClr val="80A8CC"/>
            </a:solidFill>
          </c:spPr>
          <c:cat>
            <c:strRef>
              <c:f>'Chart Data'!$C$2:$C$3</c:f>
              <c:strCache>
                <c:ptCount val="2"/>
                <c:pt idx="0">
                  <c:v>绝对差 ≥100 mm</c:v>
                </c:pt>
                <c:pt idx="1">
                  <c:v>绝对差 ≥500 mm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1366</c:v>
                </c:pt>
                <c:pt idx="1">
                  <c:v>864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62C40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62C40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16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C8D5E0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  <c:majorUnit val="40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62C40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E31C5-CD2B-436B-82A6-F7247368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35B8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235B8F"/>
                </a:solidFill>
                <a:latin typeface="Hiragino Sans GB"/>
                <a:ea typeface="Hiragino Sans GB"/>
                <a:cs typeface="Hiragino Sans GB"/>
              </a:rPr>
              <a:t>研究目标：几何记忆会影响选帧吗？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941C2C-136D-42ED-8779-449257BE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89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rPr>
              <a:t>课程阶段汇报｜2026 年 9 月 5 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515F6-AD96-4DFA-A2EB-A69899DF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rPr>
              <a:t>Geometry-aware View Memory · 部件诊断与真实 RGB-D 对照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6954A-FFB4-4064-9CF0-454EDFF5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rPr>
              <a:t>01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652E2-5367-494C-9B11-C792F9D1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33575"/>
            <a:ext cx="10763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2C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>
                <a:solidFill>
                  <a:srgbClr val="162C40"/>
                </a:solidFill>
                <a:latin typeface="Hiragino Sans GB"/>
                <a:ea typeface="Hiragino Sans GB"/>
                <a:cs typeface="Hiragino Sans GB"/>
              </a:rPr>
              <a:t>后续观测能否修正位置，</a:t>
            </a:r>
          </a:p>
          <a:p xmlns:a="http://schemas.openxmlformats.org/drawingml/2006/main">
            <a:pPr algn="l">
              <a:defRPr sz="2925" b="1">
                <a:solidFill>
                  <a:srgbClr val="162C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>
                <a:solidFill>
                  <a:srgbClr val="162C40"/>
                </a:solidFill>
                <a:latin typeface="Hiragino Sans GB"/>
                <a:ea typeface="Hiragino Sans GB"/>
                <a:cs typeface="Hiragino Sans GB"/>
              </a:rPr>
              <a:t>并让系统找到更有用的历史画面？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D4A6B-2DBE-4233-810B-476A8A2B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433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35B8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35B8F"/>
                </a:solidFill>
                <a:latin typeface="Hiragino Sans GB"/>
                <a:ea typeface="Hiragino Sans GB"/>
                <a:cs typeface="Hiragino Sans GB"/>
              </a:rPr>
              <a:t>当前完成：源代码核查 → 人工部件诊断 → 真实 RGB-D 测量对照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EC0450-F472-4AF9-B3D6-65486529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007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5B8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35B8F"/>
                </a:solidFill>
                <a:latin typeface="Hiragino Sans GB"/>
                <a:ea typeface="Hiragino Sans GB"/>
                <a:cs typeface="Hiragino Sans GB"/>
              </a:rPr>
              <a:t>主要发现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33BD7B-0F21-44BA-97A2-BCDE0E09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91025"/>
            <a:ext cx="87439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C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62C40"/>
                </a:solidFill>
                <a:latin typeface="Hiragino Sans GB"/>
                <a:ea typeface="Hiragino Sans GB"/>
                <a:cs typeface="Hiragino Sans GB"/>
              </a:rPr>
              <a:t>原始测量主条件：8 个查询均未改变最终选帧；</a:t>
            </a:r>
          </a:p>
          <a:p xmlns:a="http://schemas.openxmlformats.org/drawingml/2006/main">
            <a:pPr algn="l">
              <a:defRPr sz="2250" b="1">
                <a:solidFill>
                  <a:srgbClr val="162C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62C40"/>
                </a:solidFill>
                <a:latin typeface="Hiragino Sans GB"/>
                <a:ea typeface="Hiragino Sans GB"/>
                <a:cs typeface="Hiragino Sans GB"/>
              </a:rPr>
              <a:t>固定测量支持覆盖的平均变化为 0。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F11154-E8AF-408B-BE61-FD2344E5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2452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rPr>
              <a:t>这是阶段性部件证据。CUT3R 完整输入与生成视频质量仍待验证。</a:t>
            </a:r>
          </a:p>
        </p:txBody>
      </p:sp>
    </p:spTree>
    <p:extLst>
      <p:ext uri="{BB962C8B-B14F-4D97-AF65-F5344CB8AC3E}">
        <p14:creationId xmlns:p14="http://schemas.microsoft.com/office/powerpoint/2010/main" val="14044697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0F1BC6-1DB2-469B-AC2A-6C4B25A7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35B8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235B8F"/>
                </a:solidFill>
                <a:latin typeface="Hiragino Sans GB"/>
                <a:ea typeface="Hiragino Sans GB"/>
                <a:cs typeface="Hiragino Sans GB"/>
              </a:rPr>
              <a:t>真实输入与方法：只改变位置更新规则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A64C35-327A-4099-ABED-BAA04D5B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89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rPr>
              <a:t>TUM freiburg1_xyz｜同一办公环境，实际有效观测跨度 26.59 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FD6F4-4252-47A9-A8FE-92916E02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rPr>
              <a:t>Geometry-aware View Memory · 部件诊断与真实 RGB-D 对照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5DCC0-A4DE-4954-9A62-A7B81709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rPr>
              <a:t>02 / 08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3136bdacc840b1"/>
          <a:stretch xmlns:a="http://schemas.openxmlformats.org/drawingml/2006/main"/>
        </p:blipFill>
        <p:spPr>
          <a:xfrm xmlns:a="http://schemas.openxmlformats.org/drawingml/2006/main">
            <a:off x="628650" y="1885950"/>
            <a:ext cx="4476750" cy="335756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FD71F-7B27-4FFC-BBAE-B1AC0D54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62575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rPr>
              <a:t>实际输入 RGB · TUM RGB-D / CC BY 4.0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6AA7E-875B-4594-A2C8-F50852DC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924050"/>
            <a:ext cx="607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5B8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35B8F"/>
                </a:solidFill>
                <a:latin typeface="Hiragino Sans GB"/>
                <a:ea typeface="Hiragino Sans GB"/>
                <a:cs typeface="Hiragino Sans GB"/>
              </a:rPr>
              <a:t>20 历史帧 → 两种地图 → 官方选 4 帧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514975" y="2600325"/>
          <a:ext xmlns:a="http://schemas.openxmlformats.org/drawingml/2006/main" cx="6029325" cy="1828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38325"/>
                <a:gridCol w="4191000"/>
              </a:tblGrid>
              <a:tr h="6096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规则</a:t>
                      </a:r>
                    </a:p>
                  </a:txBody>
                  <a:tcPr marL="114300" marR="114300" marT="95250" marB="95250" anchor="ctr">
                    <a:solidFill>
                      <a:srgbClr val="235B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位置处理</a:t>
                      </a:r>
                    </a:p>
                  </a:txBody>
                  <a:tcPr marL="114300" marR="114300" marT="95250" marB="95250" anchor="ctr">
                    <a:solidFill>
                      <a:srgbClr val="235B8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first_write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保留首次存入的位置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frame_mean</a:t>
                      </a:r>
                    </a:p>
                  </a:txBody>
                  <a:tcPr marL="114300" marR="114300" marT="95250" marB="9525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每个观测帧贡献一次位置平均</a:t>
                      </a:r>
                    </a:p>
                  </a:txBody>
                  <a:tcPr marL="114300" marR="114300" marT="95250" marB="95250" anchor="ctr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52116-779A-4DB2-8E6E-CA484A38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648200"/>
            <a:ext cx="602932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2C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62C40"/>
                </a:solidFill>
                <a:latin typeface="Hiragino Sans GB"/>
                <a:ea typeface="Hiragino Sans GB"/>
                <a:cs typeface="Hiragino Sans GB"/>
              </a:rPr>
              <a:t>4 个留出查询只用于评测</a:t>
            </a:r>
          </a:p>
          <a:p xmlns:a="http://schemas.openxmlformats.org/drawingml/2006/main">
            <a:pPr algn="l">
              <a:defRPr sz="1875" b="0">
                <a:solidFill>
                  <a:srgbClr val="162C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62C40"/>
                </a:solidFill>
                <a:latin typeface="Hiragino Sans GB"/>
                <a:ea typeface="Hiragino Sans GB"/>
                <a:cs typeface="Hiragino Sans GB"/>
              </a:rPr>
              <a:t>固定支持掩码，两种规则共用</a:t>
            </a:r>
          </a:p>
          <a:p xmlns:a="http://schemas.openxmlformats.org/drawingml/2006/main">
            <a:pPr algn="l">
              <a:defRPr sz="1875" b="0">
                <a:solidFill>
                  <a:srgbClr val="162C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62C40"/>
                </a:solidFill>
                <a:latin typeface="Hiragino Sans GB"/>
                <a:ea typeface="Hiragino Sans GB"/>
                <a:cs typeface="Hiragino Sans GB"/>
              </a:rPr>
              <a:t>采样间隔 16 / 24；扰动 0 / 20 / 50 mm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4BD63-E473-4947-83FA-CE951924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rPr>
              <a:t>深度是有误差的测量；20 / 50 mm 是首帧人工扰动。</a:t>
            </a:r>
          </a:p>
        </p:txBody>
      </p:sp>
    </p:spTree>
    <p:extLst>
      <p:ext uri="{BB962C8B-B14F-4D97-AF65-F5344CB8AC3E}">
        <p14:creationId xmlns:p14="http://schemas.microsoft.com/office/powerpoint/2010/main" val="21138598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D832C-9CB8-473A-98AC-BD27E714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35B8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235B8F"/>
                </a:solidFill>
                <a:latin typeface="Hiragino Sans GB"/>
                <a:ea typeface="Hiragino Sans GB"/>
                <a:cs typeface="Hiragino Sans GB"/>
              </a:rPr>
              <a:t>已完成的证据：从机制到真实测量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B7857-CE49-4740-A94E-70FAF2A6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89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rPr>
              <a:t>不同层级回答不同问题；配置数、查询数和独立场景数须分开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498F41-627E-4BED-B568-74FF7BD2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rPr>
              <a:t>Geometry-aware View Memory · 部件诊断与真实 RGB-D 对照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E01B9-BE16-43ED-9588-EF297DD1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rPr>
              <a:t>03 / 08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1924050"/>
          <a:ext xmlns:a="http://schemas.openxmlformats.org/drawingml/2006/main" cx="10915650" cy="3162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28825"/>
                <a:gridCol w="3876675"/>
                <a:gridCol w="5010150"/>
              </a:tblGrid>
              <a:tr h="6324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层级</a:t>
                      </a:r>
                    </a:p>
                  </a:txBody>
                  <a:tcPr marL="114300" marR="114300" marT="95250" marB="95250" anchor="ctr">
                    <a:solidFill>
                      <a:srgbClr val="235B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已完成</a:t>
                      </a:r>
                    </a:p>
                  </a:txBody>
                  <a:tcPr marL="114300" marR="114300" marT="95250" marB="95250" anchor="ctr">
                    <a:solidFill>
                      <a:srgbClr val="235B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能支持的判断</a:t>
                      </a:r>
                    </a:p>
                  </a:txBody>
                  <a:tcPr marL="114300" marR="114300" marT="95250" marB="95250" anchor="ctr">
                    <a:solidFill>
                      <a:srgbClr val="235B8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S0 · 人工合并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216 + 216 配置；12 索引检查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首次位置被保留；区分索引问题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S1 · 人工检索</a:t>
                      </a:r>
                    </a:p>
                  </a:txBody>
                  <a:tcPr marL="114300" marR="114300" marT="95250" marB="9525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192 个配对配置</a:t>
                      </a:r>
                    </a:p>
                  </a:txBody>
                  <a:tcPr marL="114300" marR="114300" marT="95250" marB="9525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小误差未显示稳定选帧影响</a:t>
                      </a:r>
                    </a:p>
                  </a:txBody>
                  <a:tcPr marL="114300" marR="114300" marT="95250" marB="95250" anchor="ctr">
                    <a:solidFill>
                      <a:srgbClr val="EDF3F8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S2 · 真实接口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24 帧时间与坐标 QA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数据接口可用，测量仍有误差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S3 · 真实对照</a:t>
                      </a:r>
                    </a:p>
                  </a:txBody>
                  <a:tcPr marL="114300" marR="114300" marT="95250" marB="9525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18 案例；36 地图；0 异常</a:t>
                      </a:r>
                    </a:p>
                  </a:txBody>
                  <a:tcPr marL="114300" marR="114300" marT="95250" marB="9525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位置更新与选帧的局部关联</a:t>
                      </a:r>
                    </a:p>
                  </a:txBody>
                  <a:tcPr marL="114300" marR="114300" marT="95250" marB="95250" anchor="ctr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72500A-92E1-4FC2-B621-F0C7B8DB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62575"/>
            <a:ext cx="1091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35B8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35B8F"/>
                </a:solidFill>
                <a:latin typeface="Hiragino Sans GB"/>
                <a:ea typeface="Hiragino Sans GB"/>
                <a:cs typeface="Hiragino Sans GB"/>
              </a:rPr>
              <a:t>独立环境：1 个     实际查询：12 个     固定测试：8 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91AE2-D85D-44F9-902A-187F75C7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53125"/>
            <a:ext cx="1091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rPr>
              <a:t>3 个时段来自同一环境；两档检索分辨率不能重复算作独立样本。</a:t>
            </a:r>
          </a:p>
        </p:txBody>
      </p:sp>
    </p:spTree>
    <p:extLst>
      <p:ext uri="{BB962C8B-B14F-4D97-AF65-F5344CB8AC3E}">
        <p14:creationId xmlns:p14="http://schemas.microsoft.com/office/powerpoint/2010/main" val="5181568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11726-3C59-4D6E-AAB8-32F7D8C2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35B8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235B8F"/>
                </a:solidFill>
                <a:latin typeface="Hiragino Sans GB"/>
                <a:ea typeface="Hiragino Sans GB"/>
                <a:cs typeface="Hiragino Sans GB"/>
              </a:rPr>
              <a:t>S3 主结果：中位数下降，选帧与支持未变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8EECB-234B-4710-923C-ACA50FD4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89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rPr>
              <a:t>固定测试块 1 + 2｜采样间隔 16｜原始测量，无人工扰动｜8 个查询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B91B8-384F-4F12-8281-CB08F232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rPr>
              <a:t>Geometry-aware View Memory · 部件诊断与真实 RGB-D 对照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E52721-0BC2-4FCA-BFEA-F2DE30E6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rPr>
              <a:t>04 / 08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1866900"/>
          <a:ext xmlns:a="http://schemas.openxmlformats.org/drawingml/2006/main" cx="10915650" cy="3095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676900"/>
                <a:gridCol w="2619375"/>
                <a:gridCol w="2619375"/>
              </a:tblGrid>
              <a:tr h="6191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指标</a:t>
                      </a:r>
                    </a:p>
                  </a:txBody>
                  <a:tcPr marL="114300" marR="114300" marT="95250" marB="95250" anchor="ctr">
                    <a:solidFill>
                      <a:srgbClr val="235B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first_write</a:t>
                      </a:r>
                    </a:p>
                  </a:txBody>
                  <a:tcPr marL="114300" marR="114300" marT="95250" marB="95250" anchor="ctr">
                    <a:solidFill>
                      <a:srgbClr val="235B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frame_mean</a:t>
                      </a:r>
                    </a:p>
                  </a:txBody>
                  <a:tcPr marL="114300" marR="114300" marT="95250" marB="95250" anchor="ctr">
                    <a:solidFill>
                      <a:srgbClr val="235B8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平均查询绝对深度差中位数 ↓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30.289 mm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27.992 mm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平均查询绝对深度差（MAE）↓</a:t>
                      </a:r>
                    </a:p>
                  </a:txBody>
                  <a:tcPr marL="114300" marR="114300" marT="95250" marB="9525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260.856 mm</a:t>
                      </a:r>
                    </a:p>
                  </a:txBody>
                  <a:tcPr marL="114300" marR="114300" marT="95250" marB="9525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259.265 mm</a:t>
                      </a:r>
                    </a:p>
                  </a:txBody>
                  <a:tcPr marL="114300" marR="114300" marT="95250" marB="95250" anchor="ctr">
                    <a:solidFill>
                      <a:srgbClr val="EDF3F8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自身几何覆盖 ↑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10.845%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10.585%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固定测量支持覆盖 ↑</a:t>
                      </a:r>
                    </a:p>
                  </a:txBody>
                  <a:tcPr marL="114300" marR="114300" marT="95250" marB="9525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90.837%</a:t>
                      </a:r>
                    </a:p>
                  </a:txBody>
                  <a:tcPr marL="114300" marR="114300" marT="95250" marB="9525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90.837%</a:t>
                      </a:r>
                    </a:p>
                  </a:txBody>
                  <a:tcPr marL="114300" marR="114300" marT="95250" marB="95250" anchor="ctr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7C79C-D0E9-44B6-A565-D926E8CE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10915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35B8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35B8F"/>
                </a:solidFill>
                <a:latin typeface="Hiragino Sans GB"/>
                <a:ea typeface="Hiragino Sans GB"/>
                <a:cs typeface="Hiragino Sans GB"/>
              </a:rPr>
              <a:t>共同像素仅覆盖 3.908% 的有效目标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99177-AB4C-474D-929D-940354D7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091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C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62C40"/>
                </a:solidFill>
                <a:latin typeface="Hiragino Sans GB"/>
                <a:ea typeface="Hiragino Sans GB"/>
                <a:cs typeface="Hiragino Sans GB"/>
              </a:rPr>
              <a:t>两档检索分辨率均 0 / 8 换帧；平均支持覆盖变化 0。</a:t>
            </a:r>
          </a:p>
        </p:txBody>
      </p:sp>
    </p:spTree>
    <p:extLst>
      <p:ext uri="{BB962C8B-B14F-4D97-AF65-F5344CB8AC3E}">
        <p14:creationId xmlns:p14="http://schemas.microsoft.com/office/powerpoint/2010/main" val="19444424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BF00A2-8B6F-4B4C-9FD6-E0E96ECC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35B8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235B8F"/>
                </a:solidFill>
                <a:latin typeface="Hiragino Sans GB"/>
                <a:ea typeface="Hiragino Sans GB"/>
                <a:cs typeface="Hiragino Sans GB"/>
              </a:rPr>
              <a:t>全部 6 个测试条件：效果依赖采样与扰动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9A27E-3EF3-4AEC-B551-945E449F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89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rPr>
              <a:t>每行均为同一组 8 个查询；0 mm 为原始测量，20 / 50 mm 为人工首帧扰动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C4FCA-4C19-4651-BF9D-B2B49472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rPr>
              <a:t>Geometry-aware View Memory · 部件诊断与真实 RGB-D 对照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D0308-DCB9-4EE9-AE1C-3BABBF00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rPr>
              <a:t>05 / 08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1714500"/>
          <a:ext xmlns:a="http://schemas.openxmlformats.org/drawingml/2006/main" cx="10915650" cy="35337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52600"/>
                <a:gridCol w="2209800"/>
                <a:gridCol w="2390775"/>
                <a:gridCol w="1819275"/>
                <a:gridCol w="2743200"/>
              </a:tblGrid>
              <a:tr h="5048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间隔 / 扰动</a:t>
                      </a:r>
                    </a:p>
                  </a:txBody>
                  <a:tcPr marL="114300" marR="114300" marT="95250" marB="95250" anchor="ctr">
                    <a:solidFill>
                      <a:srgbClr val="235B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中位差 mm</a:t>
                      </a:r>
                    </a:p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首写 → 平均</a:t>
                      </a:r>
                    </a:p>
                  </a:txBody>
                  <a:tcPr marL="114300" marR="114300" marT="95250" marB="95250" anchor="ctr">
                    <a:solidFill>
                      <a:srgbClr val="235B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MAE mm</a:t>
                      </a:r>
                    </a:p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首写 → 平均</a:t>
                      </a:r>
                    </a:p>
                  </a:txBody>
                  <a:tcPr marL="114300" marR="114300" marT="95250" marB="95250" anchor="ctr">
                    <a:solidFill>
                      <a:srgbClr val="235B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换帧数</a:t>
                      </a:r>
                    </a:p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160 / 320</a:t>
                      </a:r>
                    </a:p>
                  </a:txBody>
                  <a:tcPr marL="114300" marR="114300" marT="95250" marB="95250" anchor="ctr">
                    <a:solidFill>
                      <a:srgbClr val="235B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支持变化 pp</a:t>
                      </a:r>
                    </a:p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160 / 320</a:t>
                      </a:r>
                    </a:p>
                  </a:txBody>
                  <a:tcPr marL="114300" marR="114300" marT="95250" marB="95250" anchor="ctr">
                    <a:solidFill>
                      <a:srgbClr val="235B8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16 / 0 mm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30.29 → 27.99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260.86 → 259.27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0/8 · 0/8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+0.000 / +0.000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16 / 20 mm</a:t>
                      </a:r>
                    </a:p>
                  </a:txBody>
                  <a:tcPr marL="114300" marR="114300" marT="95250" marB="9525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28.18 → 24.31</a:t>
                      </a:r>
                    </a:p>
                  </a:txBody>
                  <a:tcPr marL="114300" marR="114300" marT="95250" marB="9525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222.81 → 217.62</a:t>
                      </a:r>
                    </a:p>
                  </a:txBody>
                  <a:tcPr marL="114300" marR="114300" marT="95250" marB="9525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4/8 · 4/8</a:t>
                      </a:r>
                    </a:p>
                  </a:txBody>
                  <a:tcPr marL="114300" marR="114300" marT="95250" marB="9525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+0.027 / +0.027</a:t>
                      </a:r>
                    </a:p>
                  </a:txBody>
                  <a:tcPr marL="114300" marR="114300" marT="95250" marB="95250" anchor="ctr">
                    <a:solidFill>
                      <a:srgbClr val="EDF3F8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16 / 50 mm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40.03 → 32.63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213.98 → 210.67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6/8 · 4/8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+0.765 / +0.804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24 / 0 mm</a:t>
                      </a:r>
                    </a:p>
                  </a:txBody>
                  <a:tcPr marL="114300" marR="114300" marT="95250" marB="9525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30.68 → 27.75</a:t>
                      </a:r>
                    </a:p>
                  </a:txBody>
                  <a:tcPr marL="114300" marR="114300" marT="95250" marB="9525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267.70 → 261.09</a:t>
                      </a:r>
                    </a:p>
                  </a:txBody>
                  <a:tcPr marL="114300" marR="114300" marT="95250" marB="9525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3/8 · 3/8</a:t>
                      </a:r>
                    </a:p>
                  </a:txBody>
                  <a:tcPr marL="114300" marR="114300" marT="95250" marB="9525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+0.021 / +0.021</a:t>
                      </a:r>
                    </a:p>
                  </a:txBody>
                  <a:tcPr marL="114300" marR="114300" marT="95250" marB="95250" anchor="ctr">
                    <a:solidFill>
                      <a:srgbClr val="EDF3F8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24 / 20 mm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31.03 → 29.85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266.56 → 258.46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1/8 · 1/8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-0.031 / -0.031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24 / 50 mm</a:t>
                      </a:r>
                    </a:p>
                  </a:txBody>
                  <a:tcPr marL="114300" marR="114300" marT="95250" marB="9525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32.05 → 31.24</a:t>
                      </a:r>
                    </a:p>
                  </a:txBody>
                  <a:tcPr marL="114300" marR="114300" marT="95250" marB="9525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225.75 → 227.52</a:t>
                      </a:r>
                    </a:p>
                  </a:txBody>
                  <a:tcPr marL="114300" marR="114300" marT="95250" marB="9525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2/8 · 2/8</a:t>
                      </a:r>
                    </a:p>
                  </a:txBody>
                  <a:tcPr marL="114300" marR="114300" marT="95250" marB="9525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+0.328 / +0.303</a:t>
                      </a:r>
                    </a:p>
                  </a:txBody>
                  <a:tcPr marL="114300" marR="114300" marT="95250" marB="95250" anchor="ctr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EF399-7A23-435D-AFB4-39235901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81650"/>
            <a:ext cx="1091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35B8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35B8F"/>
                </a:solidFill>
                <a:latin typeface="Hiragino Sans GB"/>
                <a:ea typeface="Hiragino Sans GB"/>
                <a:cs typeface="Hiragino Sans GB"/>
              </a:rPr>
              <a:t>负结果：24 / 20 mm 的支持略降；24 / 50 mm 的 MAE 上升。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79172-B627-43EC-BE52-25ADC0B2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38850"/>
            <a:ext cx="10915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rPr>
              <a:t>原始 24 条件支持仅 +0.021 个百分点；尚无稳健、重要的改善证据。</a:t>
            </a:r>
          </a:p>
        </p:txBody>
      </p:sp>
    </p:spTree>
    <p:extLst>
      <p:ext uri="{BB962C8B-B14F-4D97-AF65-F5344CB8AC3E}">
        <p14:creationId xmlns:p14="http://schemas.microsoft.com/office/powerpoint/2010/main" val="13710902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032E34-3CA8-4E1B-894C-FEA2A214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35B8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235B8F"/>
                </a:solidFill>
                <a:latin typeface="Hiragino Sans GB"/>
                <a:ea typeface="Hiragino Sans GB"/>
                <a:cs typeface="Hiragino Sans GB"/>
              </a:rPr>
              <a:t>简单参照：主条件下支持覆盖更高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6FA91-AD76-4AC4-BB2F-4B5119DF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89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rPr>
              <a:t>同一测试查询、同一目标掩码；四帧参照不使用留出深度选帧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5D715F-18E1-4DAC-B040-240787D5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rPr>
              <a:t>Geometry-aware View Memory · 部件诊断与真实 RGB-D 对照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7FB4D-A98F-4DF4-A774-F75D42A7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rPr>
              <a:t>06 / 08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28650" y="1857375"/>
          <a:ext xmlns:a="http://schemas.openxmlformats.org/drawingml/2006/main" cx="10915650" cy="3276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9ef38dacf5e412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9C8F3-485D-4E87-B7A6-17024583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05425"/>
            <a:ext cx="10915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35B8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235B8F"/>
                </a:solidFill>
                <a:latin typeface="Hiragino Sans GB"/>
                <a:ea typeface="Hiragino Sans GB"/>
                <a:cs typeface="Hiragino Sans GB"/>
              </a:rPr>
              <a:t>最近位姿 4 帧未使用 NMS，不能当作单因素消融。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86F1C2-454B-43DD-9E44-61268B42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9775"/>
            <a:ext cx="10915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rPr>
              <a:t>全历史 20 帧使用更多预算，只作支持上界；上述分数均不是视频质量。</a:t>
            </a:r>
          </a:p>
        </p:txBody>
      </p:sp>
    </p:spTree>
    <p:extLst>
      <p:ext uri="{BB962C8B-B14F-4D97-AF65-F5344CB8AC3E}">
        <p14:creationId xmlns:p14="http://schemas.microsoft.com/office/powerpoint/2010/main" val="8127641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C1AD54-244C-48D7-917F-31396982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35B8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235B8F"/>
                </a:solidFill>
                <a:latin typeface="Hiragino Sans GB"/>
                <a:ea typeface="Hiragino Sans GB"/>
                <a:cs typeface="Hiragino Sans GB"/>
              </a:rPr>
              <a:t>误差尾部仍大：中位数不能代表全部像素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A87C7-F07A-4BF1-88C2-64AA2F23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89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rPr>
              <a:t>事后诊断｜全部 8 个主测试查询、4,235 个共同像素；没有删除大残差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19E34-1407-413C-A601-35BC0A84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rPr>
              <a:t>Geometry-aware View Memory · 部件诊断与真实 RGB-D 对照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9A65B-C21D-4A84-9B39-F8EC9519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rPr>
              <a:t>07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4FE5D-CD0D-4FC2-BE17-82B70C7A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38325"/>
            <a:ext cx="628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rPr>
              <a:t>像素数（两阈值并非互斥分组）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71500" y="2181225"/>
          <a:ext xmlns:a="http://schemas.openxmlformats.org/drawingml/2006/main" cx="630555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88c4f881024b6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C5EAF-ACD9-47D7-94C1-D56DBA8F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977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5B8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35B8F"/>
                </a:solidFill>
                <a:latin typeface="Hiragino Sans GB"/>
                <a:ea typeface="Hiragino Sans GB"/>
                <a:cs typeface="Hiragino Sans GB"/>
              </a:rPr>
              <a:t>像素汇总 p90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DBB86-A830-40A8-9BD4-98ABAE2D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4317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2C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62C40"/>
                </a:solidFill>
                <a:latin typeface="Hiragino Sans GB"/>
                <a:ea typeface="Hiragino Sans GB"/>
                <a:cs typeface="Hiragino Sans GB"/>
              </a:rPr>
              <a:t>999.5 → 1008.9 mm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5A70FF-75AA-4043-9E3A-992DB3C0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14700"/>
            <a:ext cx="4095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2C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62C40"/>
                </a:solidFill>
                <a:latin typeface="Hiragino Sans GB"/>
                <a:ea typeface="Hiragino Sans GB"/>
                <a:cs typeface="Hiragino Sans GB"/>
              </a:rPr>
              <a:t>两种统计口径不能混用：</a:t>
            </a:r>
          </a:p>
          <a:p xmlns:a="http://schemas.openxmlformats.org/drawingml/2006/main">
            <a:pPr algn="l">
              <a:defRPr sz="1950" b="0">
                <a:solidFill>
                  <a:srgbClr val="162C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62C40"/>
                </a:solidFill>
                <a:latin typeface="Hiragino Sans GB"/>
                <a:ea typeface="Hiragino Sans GB"/>
                <a:cs typeface="Hiragino Sans GB"/>
              </a:rPr>
              <a:t>第 4 页：查询等权</a:t>
            </a:r>
          </a:p>
          <a:p xmlns:a="http://schemas.openxmlformats.org/drawingml/2006/main">
            <a:pPr algn="l">
              <a:defRPr sz="1950" b="0">
                <a:solidFill>
                  <a:srgbClr val="162C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62C40"/>
                </a:solidFill>
                <a:latin typeface="Hiragino Sans GB"/>
                <a:ea typeface="Hiragino Sans GB"/>
                <a:cs typeface="Hiragino Sans GB"/>
              </a:rPr>
              <a:t>本页：像素汇总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2E717-4709-48BF-8EF7-9058F48D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81550"/>
            <a:ext cx="4095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rPr>
              <a:t>同一投影网格未必是同一表面；</a:t>
            </a:r>
          </a:p>
          <a:p xmlns:a="http://schemas.openxmlformats.org/drawingml/2006/main">
            <a:pPr algn="l">
              <a:defRPr sz="18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rPr>
              <a:t>误差原因仍需单独验证。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03B49-8EE6-4A5C-B861-73986993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15025"/>
            <a:ext cx="1091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35B8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35B8F"/>
                </a:solidFill>
                <a:latin typeface="Hiragino Sans GB"/>
                <a:ea typeface="Hiragino Sans GB"/>
                <a:cs typeface="Hiragino Sans GB"/>
              </a:rPr>
              <a:t>证据边界：单一短时环境；绕过 CUT3R；尚无生成视频结果。</a:t>
            </a:r>
          </a:p>
        </p:txBody>
      </p:sp>
    </p:spTree>
    <p:extLst>
      <p:ext uri="{BB962C8B-B14F-4D97-AF65-F5344CB8AC3E}">
        <p14:creationId xmlns:p14="http://schemas.microsoft.com/office/powerpoint/2010/main" val="5917564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5790E1-D32B-4702-8545-B8F4D4C3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35B8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235B8F"/>
                </a:solidFill>
                <a:latin typeface="Hiragino Sans GB"/>
                <a:ea typeface="Hiragino Sans GB"/>
                <a:cs typeface="Hiragino Sans GB"/>
              </a:rPr>
              <a:t>交付与下一步：保留负结果，补齐证据链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14605-0834-4705-B131-06976F55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89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rPr>
              <a:t>已完成当前部件阶段；原始视频项目仍需继续验证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73A6B-D327-43CE-A808-AD281F5B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rPr>
              <a:t>Geometry-aware View Memory · 部件诊断与真实 RGB-D 对照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B7B34-60F6-4BE4-B76F-088A44F1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rPr>
              <a:t>08 / 08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28650" y="1885950"/>
          <a:ext xmlns:a="http://schemas.openxmlformats.org/drawingml/2006/main" cx="10915650" cy="31527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8677275"/>
              </a:tblGrid>
              <a:tr h="52546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状态</a:t>
                      </a:r>
                    </a:p>
                  </a:txBody>
                  <a:tcPr marL="114300" marR="114300" marT="95250" marB="95250" anchor="ctr">
                    <a:solidFill>
                      <a:srgbClr val="235B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材料或任务</a:t>
                      </a:r>
                    </a:p>
                  </a:txBody>
                  <a:tcPr marL="114300" marR="114300" marT="95250" marB="95250" anchor="ctr">
                    <a:solidFill>
                      <a:srgbClr val="235B8F"/>
                    </a:solidFill>
                  </a:tcPr>
                </a:tc>
              </a:tr>
              <a:tr h="5254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已交付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英文技术报告；中文 S3 结果；冻结协议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  <a:tr h="5254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已交付</a:t>
                      </a:r>
                    </a:p>
                  </a:txBody>
                  <a:tcPr marL="114300" marR="114300" marT="95250" marB="9525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完整结果表、图与核验记录；本汇报</a:t>
                      </a:r>
                    </a:p>
                  </a:txBody>
                  <a:tcPr marL="114300" marR="114300" marT="95250" marB="95250" anchor="ctr">
                    <a:solidFill>
                      <a:srgbClr val="EDF3F8"/>
                    </a:solidFill>
                  </a:tcPr>
                </a:tc>
              </a:tr>
              <a:tr h="5254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正在准备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独立 CUT3R 真实输入推理：CPU → MPS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  <a:tr h="5254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后续验证</a:t>
                      </a:r>
                    </a:p>
                  </a:txBody>
                  <a:tcPr marL="114300" marR="114300" marT="95250" marB="95250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原始清理与置信度；更多独立环境</a:t>
                      </a:r>
                    </a:p>
                  </a:txBody>
                  <a:tcPr marL="114300" marR="114300" marT="95250" marB="95250" anchor="ctr">
                    <a:solidFill>
                      <a:srgbClr val="EDF3F8"/>
                    </a:solidFill>
                  </a:tcPr>
                </a:tc>
              </a:tr>
              <a:tr h="5254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后续验证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62C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完整视频生成与空间一致性评价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1FF03-EF6C-4BDD-A380-2C0264F2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10915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35B8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35B8F"/>
                </a:solidFill>
                <a:latin typeface="Hiragino Sans GB"/>
                <a:ea typeface="Hiragino Sans GB"/>
                <a:cs typeface="Hiragino Sans GB"/>
              </a:rPr>
              <a:t>当前决策：暂不开发复杂几何门控，先验证真实问题是否足够重要。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DC56B-78EE-4876-AACE-C0D05CA1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86450"/>
            <a:ext cx="10915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473"/>
                </a:solidFill>
                <a:latin typeface="Hiragino Sans GB"/>
                <a:ea typeface="Hiragino Sans GB"/>
                <a:cs typeface="Hiragino Sans GB"/>
              </a:rPr>
              <a:t>课程材料须人类审核；不把机器运行时间或自动输出当作课程完成证明。</a:t>
            </a:r>
          </a:p>
        </p:txBody>
      </p:sp>
    </p:spTree>
    <p:extLst>
      <p:ext uri="{BB962C8B-B14F-4D97-AF65-F5344CB8AC3E}">
        <p14:creationId xmlns:p14="http://schemas.microsoft.com/office/powerpoint/2010/main" val="59190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2026-09-05T15:01:04.8370000Z</dcterms:created>
  <dcterms:modified xsi:type="dcterms:W3CDTF">2026-09-05T15:01:04.8370000Z</dcterms:modified>
</coreProperties>
</file>